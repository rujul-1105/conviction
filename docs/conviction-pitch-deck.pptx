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90" y="640080"/>
            <a:ext cx="10972800" cy="26360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6576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B6B6B"/>
                </a:solidFill>
                <a:latin typeface="Liberation Mono"/>
              </a:rPr>
              <a:t>MAGICBLOCK BLITZ V8 · PATH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60520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800" b="0" i="1">
                <a:solidFill>
                  <a:srgbClr val="F5F5F0"/>
                </a:solidFill>
                <a:latin typeface="Liberation Sans"/>
              </a:rPr>
              <a:t>A real-time risk duel on Solana.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44037" y="5166360"/>
            <a:ext cx="1225296" cy="310896"/>
          </a:xfrm>
          <a:prstGeom prst="roundRect">
            <a:avLst/>
          </a:prstGeom>
          <a:solidFill>
            <a:srgbClr val="1F1F1F"/>
          </a:solidFill>
          <a:ln w="12700">
            <a:solidFill>
              <a:srgbClr val="00FF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54864" bIns="54864" wrap="none"/>
          <a:lstStyle/>
          <a:p>
            <a:pPr algn="ctr"/>
            <a:r>
              <a:rPr sz="1000" b="1">
                <a:solidFill>
                  <a:srgbClr val="00FF85"/>
                </a:solidFill>
                <a:latin typeface="Liberation Mono"/>
              </a:rPr>
              <a:t>TEAM VS TEAM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43653" y="5166360"/>
            <a:ext cx="1613916" cy="310896"/>
          </a:xfrm>
          <a:prstGeom prst="roundRect">
            <a:avLst/>
          </a:prstGeom>
          <a:solidFill>
            <a:srgbClr val="1F1F1F"/>
          </a:solidFill>
          <a:ln w="1270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54864" bIns="54864" wrap="none"/>
          <a:lstStyle/>
          <a:p>
            <a:pPr algn="ctr"/>
            <a:r>
              <a:rPr sz="1000" b="1">
                <a:solidFill>
                  <a:srgbClr val="4A9EFF"/>
                </a:solidFill>
                <a:latin typeface="Liberation Mono"/>
              </a:rPr>
              <a:t>HIDDEN THRESHOLDS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31889" y="5166360"/>
            <a:ext cx="992124" cy="310896"/>
          </a:xfrm>
          <a:prstGeom prst="roundRect">
            <a:avLst/>
          </a:prstGeom>
          <a:solidFill>
            <a:srgbClr val="1F1F1F"/>
          </a:solidFill>
          <a:ln w="12700">
            <a:solidFill>
              <a:srgbClr val="FFD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54864" bIns="54864" wrap="none"/>
          <a:lstStyle/>
          <a:p>
            <a:pPr algn="ctr"/>
            <a:r>
              <a:rPr sz="1000" b="1">
                <a:solidFill>
                  <a:srgbClr val="FFD23F"/>
                </a:solidFill>
                <a:latin typeface="Liberation Mono"/>
              </a:rPr>
              <a:t>VRF CHAOS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8333" y="5166360"/>
            <a:ext cx="1613916" cy="310896"/>
          </a:xfrm>
          <a:prstGeom prst="roundRect">
            <a:avLst/>
          </a:prstGeom>
          <a:solidFill>
            <a:srgbClr val="1F1F1F"/>
          </a:solidFill>
          <a:ln w="12700">
            <a:solidFill>
              <a:srgbClr val="9D4E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54864" bIns="54864" wrap="none"/>
          <a:lstStyle/>
          <a:p>
            <a:pPr algn="ctr"/>
            <a:r>
              <a:rPr sz="1000" b="1">
                <a:solidFill>
                  <a:srgbClr val="9D4EDD"/>
                </a:solidFill>
                <a:latin typeface="Liberation Mono"/>
              </a:rPr>
              <a:t>GOVERNANCE-DRIVEN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A0A0A0"/>
                </a:solidFill>
                <a:latin typeface="Liberation Mono"/>
              </a:rPr>
              <a:t>LIVE  conviction-nine.vercel.app  ·  Rujul ·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B6B6B"/>
                </a:solidFill>
                <a:latin typeface="Liberation Mono"/>
              </a:rPr>
              <a:t>Fh6b…JHJbH  ·  devnet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6B6B"/>
                </a:solidFill>
                <a:latin typeface="Liberation Mono"/>
              </a:rPr>
              <a:t>01  · 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F5F5F0"/>
                </a:solidFill>
                <a:latin typeface="Liberation Sans"/>
              </a:rPr>
              <a:t>Trading games on L1 can't have secrets.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60320"/>
            <a:ext cx="54864" cy="960120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542032"/>
            <a:ext cx="10698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5F5F0"/>
                </a:solidFill>
                <a:latin typeface="Liberation Sans"/>
              </a:rPr>
              <a:t>Hidden commitments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698480" cy="5029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A0A0A0"/>
                </a:solidFill>
                <a:latin typeface="Liberation Sans"/>
              </a:rPr>
              <a:t>A "sealed" threshold on L1 is readable by everyone. The rival front-runs the fold and the strategy disappears.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749039"/>
            <a:ext cx="54864" cy="960120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30752"/>
            <a:ext cx="10698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5F5F0"/>
                </a:solidFill>
                <a:latin typeface="Liberation Sans"/>
              </a:rPr>
              <a:t>Provable randomness mid-round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206240"/>
            <a:ext cx="10698480" cy="5029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A0A0A0"/>
                </a:solidFill>
                <a:latin typeface="Liberation Sans"/>
              </a:rPr>
              <a:t>A trusted oracle breaks trust. A pre-committed hash breaks the cinematic.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937759"/>
            <a:ext cx="54864" cy="960120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919472"/>
            <a:ext cx="10698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5F5F0"/>
                </a:solidFill>
                <a:latin typeface="Liberation Sans"/>
              </a:rPr>
              <a:t>Real-time UX at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94959"/>
            <a:ext cx="10698480" cy="5029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A0A0A0"/>
                </a:solidFill>
                <a:latin typeface="Liberation Sans"/>
              </a:rPr>
              <a:t>Per-second price ticks on L1 = paid txs on a 400ms slot. Every state change is permanent bloat.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6B6B"/>
                </a:solidFill>
                <a:latin typeface="Liberation Mono"/>
              </a:rPr>
              <a:t>02  · 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F5F5F0"/>
                </a:solidFill>
                <a:latin typeface="Liberation Sans"/>
              </a:rPr>
              <a:t>Conviction: a real-time risk duel.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A0A0A0"/>
                </a:solidFill>
                <a:latin typeface="Liberation Sans"/>
              </a:rPr>
              <a:t>Two teams lock a 2-3 token basket behind a sealed threshold band. First to break the band, auto-folds.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8027" y="3657600"/>
            <a:ext cx="3520440" cy="237744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8027" y="3657600"/>
            <a:ext cx="3520440" cy="54864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6627" y="3931920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4A9EFF"/>
                </a:solidFill>
                <a:latin typeface="Liberation Sans"/>
              </a:rPr>
              <a:t>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6627" y="452628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A0A0A0"/>
                </a:solidFill>
                <a:latin typeface="Liberation Sans"/>
              </a:rPr>
              <a:t>Lock basket + band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5627" y="3657600"/>
            <a:ext cx="3520440" cy="237744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5627" y="3657600"/>
            <a:ext cx="3520440" cy="54864"/>
          </a:xfrm>
          <a:prstGeom prst="rect">
            <a:avLst/>
          </a:prstGeom>
          <a:solidFill>
            <a:srgbClr val="FFD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4227" y="3931920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D23F"/>
                </a:solidFill>
                <a:latin typeface="Liberation Sans"/>
              </a:rPr>
              <a:t>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4227" y="452628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A0A0A0"/>
                </a:solidFill>
                <a:latin typeface="Liberation Sans"/>
              </a:rPr>
              <a:t>VRF + chaos callbacks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93227" y="3657600"/>
            <a:ext cx="3520440" cy="237744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3227" y="3657600"/>
            <a:ext cx="3520440" cy="54864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1827" y="3931920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0FF85"/>
                </a:solidFill>
                <a:latin typeface="Liberation Sans"/>
              </a:rPr>
              <a:t>REVEAL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1827" y="452628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A0A0A0"/>
                </a:solidFill>
                <a:latin typeface="Liberation Sans"/>
              </a:rPr>
              <a:t>FTR governance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6B6B"/>
                </a:solidFill>
                <a:latin typeface="Liberation Mono"/>
              </a:rPr>
              <a:t>03  ·  WHY MAGICBLOCK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F5F5F0"/>
                </a:solidFill>
                <a:latin typeface="Liberation Sans"/>
              </a:rPr>
              <a:t>Three primitives, three jobs.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60320"/>
            <a:ext cx="11064240" cy="123444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560320"/>
            <a:ext cx="73152" cy="1234440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777240" cy="384048"/>
          </a:xfrm>
          <a:prstGeom prst="round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100" b="1">
                <a:solidFill>
                  <a:srgbClr val="0A0A0A"/>
                </a:solidFill>
                <a:latin typeface="Liberation Mono"/>
              </a:rPr>
              <a:t>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76148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5F5F0"/>
                </a:solidFill>
                <a:latin typeface="Liberation Sans"/>
              </a:rPr>
              <a:t>Permissioned 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852927"/>
            <a:ext cx="5943600" cy="8686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A0A0A0"/>
                </a:solidFill>
                <a:latin typeface="Liberation Sans"/>
              </a:rPr>
              <a:t>Seals each team's threshold behind a member-set until finalize_round reveals. Without it, the rival reads your StopLoss PDA off base layer and front-runs the fold.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31920"/>
            <a:ext cx="11064240" cy="123444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931920"/>
            <a:ext cx="73152" cy="1234440"/>
          </a:xfrm>
          <a:prstGeom prst="rect">
            <a:avLst/>
          </a:prstGeom>
          <a:solidFill>
            <a:srgbClr val="FFD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4160520"/>
            <a:ext cx="777240" cy="384048"/>
          </a:xfrm>
          <a:prstGeom prst="roundRect">
            <a:avLst/>
          </a:prstGeom>
          <a:solidFill>
            <a:srgbClr val="FFD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100" b="1">
                <a:solidFill>
                  <a:srgbClr val="0A0A0A"/>
                </a:solidFill>
                <a:latin typeface="Liberation Mono"/>
              </a:rPr>
              <a:t>VRF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133087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5F5F0"/>
                </a:solidFill>
                <a:latin typeface="Liberation Sans"/>
              </a:rPr>
              <a:t>MagicBlock VRF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4224528"/>
            <a:ext cx="5943600" cy="8686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A0A0A0"/>
                </a:solidFill>
                <a:latin typeface="Liberation Sans"/>
              </a:rPr>
              <a:t>Fires villain token + chaos-event callbacks mid-round. A trusted oracle breaks trust; a pre-committed hash breaks the cinematic.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303520"/>
            <a:ext cx="11064240" cy="123444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303520"/>
            <a:ext cx="73152" cy="123444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5532120"/>
            <a:ext cx="777240" cy="384048"/>
          </a:xfrm>
          <a:prstGeom prst="round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100" b="1">
                <a:solidFill>
                  <a:srgbClr val="0A0A0A"/>
                </a:solidFill>
                <a:latin typeface="Liberation Mono"/>
              </a:rPr>
              <a:t>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50468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5F5F0"/>
                </a:solidFill>
                <a:latin typeface="Liberation Sans"/>
              </a:rPr>
              <a:t>Ephemeral Rollups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5596128"/>
            <a:ext cx="5943600" cy="8686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A0A0A0"/>
                </a:solidFill>
                <a:latin typeface="Liberation Sans"/>
              </a:rPr>
              <a:t>Per-second price ticks cheap, fast, and ephemeral. On L1 every tick is a paid tx on a 400ms slot. ER keeps mid-round state off base and only settles the final result.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6B6B"/>
                </a:solidFill>
                <a:latin typeface="Liberation Mono"/>
              </a:rPr>
              <a:t>04  ·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F5F5F0"/>
                </a:solidFill>
                <a:latin typeface="Liberation Sans"/>
              </a:rPr>
              <a:t>How it fits together.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697480"/>
            <a:ext cx="3703320" cy="21031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697480"/>
            <a:ext cx="3703320" cy="54864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3464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00FF85"/>
                </a:solidFill>
                <a:latin typeface="Liberation Mono"/>
              </a:rP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5F5F0"/>
                </a:solidFill>
                <a:latin typeface="Liberation Sans"/>
              </a:rPr>
              <a:t>Next.js 14 (Vercel)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5760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A0A0A0"/>
                </a:solidFill>
                <a:latin typeface="Liberation Mono"/>
              </a:rPr>
              <a:t>10 routes · shadcn · Framer Motion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3192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0A0A0"/>
                </a:solidFill>
                <a:latin typeface="Liberation Mono"/>
              </a:rPr>
              <a:t>app/lib/api/real.ts (18 fns wired)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0A0A0"/>
                </a:solidFill>
                <a:latin typeface="Liberation Mono"/>
              </a:rPr>
              <a:t>app/lib/anchor/* (PDA + context)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697480"/>
            <a:ext cx="3703320" cy="21031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2697480"/>
            <a:ext cx="3703320" cy="54864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83464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9EFF"/>
                </a:solidFill>
                <a:latin typeface="Liberation Mono"/>
              </a:rPr>
              <a:t>RPC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24612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5F5F0"/>
                </a:solidFill>
                <a:latin typeface="Liberation Sans"/>
              </a:rPr>
              <a:t>MagicBlock devnet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65760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A0A0A0"/>
                </a:solidFill>
                <a:latin typeface="Liberation Mono"/>
              </a:rPr>
              <a:t>Base layer (solana L1)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93192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A0A0A0"/>
                </a:solidFill>
                <a:latin typeface="Liberation Mono"/>
              </a:rPr>
              <a:t>ER (per-PDA FQDN)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16052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0A0A0"/>
                </a:solidFill>
                <a:latin typeface="Liberation Mono"/>
              </a:rPr>
              <a:t>via router getDelegationStatus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2697480"/>
            <a:ext cx="3703320" cy="21031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21040" y="2697480"/>
            <a:ext cx="3703320" cy="54864"/>
          </a:xfrm>
          <a:prstGeom prst="rect">
            <a:avLst/>
          </a:prstGeom>
          <a:solidFill>
            <a:srgbClr val="FFD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283464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D23F"/>
                </a:solidFill>
                <a:latin typeface="Liberation Mono"/>
              </a:rPr>
              <a:t>ON-CHAIN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24612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5F5F0"/>
                </a:solidFill>
                <a:latin typeface="Liberation Sans"/>
              </a:rPr>
              <a:t>conviction program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65760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A0A0A0"/>
                </a:solidFill>
                <a:latin typeface="Liberation Mono"/>
              </a:rPr>
              <a:t>24 instructions · 9 accounts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93192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0A0A0"/>
                </a:solidFill>
                <a:latin typeface="Liberation Mono"/>
              </a:rPr>
              <a:t>Delegated to ER per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416052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0A0A0"/>
                </a:solidFill>
                <a:latin typeface="Liberation Mono"/>
              </a:rPr>
              <a:t>PER-sealed baskets + thresholds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074920"/>
            <a:ext cx="11064240" cy="128016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21208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6B6B"/>
                </a:solidFill>
                <a:latin typeface="Liberation Mono"/>
              </a:rPr>
              <a:t>SIDECAR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5321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5F5F0"/>
                </a:solidFill>
                <a:latin typeface="Liberation Sans"/>
              </a:rPr>
              <a:t>Birdeye public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A0A0A0"/>
                </a:solidFill>
                <a:latin typeface="Liberation Sans"/>
              </a:rPr>
              <a:t>10s price polling on every basket mint in the live round. Chart flips "Mock walk" → "Birdeye live" pill automatically.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6B6B"/>
                </a:solidFill>
                <a:latin typeface="Liberation Mono"/>
              </a:rPr>
              <a:t>05  ·  THE MECHANIC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F5F5F0"/>
                </a:solidFill>
                <a:latin typeface="Liberation Sans"/>
              </a:rPr>
              <a:t>How a round plays.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606040"/>
            <a:ext cx="54864" cy="640080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578608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0FF85"/>
                </a:solidFill>
                <a:latin typeface="Liberation Mono"/>
              </a:rPr>
              <a:t>1.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56032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5F5F0"/>
                </a:solidFill>
                <a:latin typeface="Liberation Sans"/>
              </a:rPr>
              <a:t>Each team picks a 2-3 token basket + a bps band (e.g. -14% floor, -5% edge). Locked via lockInPreRound; delegated to ER; PER-sealed.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383280"/>
            <a:ext cx="54864" cy="640080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55848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0FF85"/>
                </a:solidFill>
                <a:latin typeface="Liberation Mono"/>
              </a:rPr>
              <a:t>2. 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33375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5F5F0"/>
                </a:solidFill>
                <a:latin typeface="Liberation Sans"/>
              </a:rPr>
              <a:t>Price ticks stream from Birdeye. VRF picks a villain token. Chaos events fire mid-round. The chart band visualizes the auto-fold trigger.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160520"/>
            <a:ext cx="54864" cy="640080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133087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0FF85"/>
                </a:solidFill>
                <a:latin typeface="Liberation Mono"/>
              </a:rPr>
              <a:t>3. AUTO-FOLD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411480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5F5F0"/>
                </a:solidFill>
                <a:latin typeface="Liberation Sans"/>
              </a:rPr>
              <a:t>When the worst-performer drops below the band floor, the whole team folds (Team.folded = true, Team.alive = 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937759"/>
            <a:ext cx="54864" cy="640080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910327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0FF85"/>
                </a:solidFill>
                <a:latin typeface="Liberation Mono"/>
              </a:rPr>
              <a:t>4. REVEAL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89204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5F5F0"/>
                </a:solidFill>
                <a:latin typeface="Liberation Sans"/>
              </a:rPr>
              <a:t>revealRound closes PER, distributes the pot, mints 1 FTR to the winning wallet.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714999"/>
            <a:ext cx="54864" cy="640080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687567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0FF85"/>
                </a:solidFill>
                <a:latin typeface="Liberation Mono"/>
              </a:rPr>
              <a:t>5. 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566927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5F5F0"/>
                </a:solidFill>
                <a:latin typeface="Liberation Sans"/>
              </a:rPr>
              <a:t>Winner proposes next-round parameters (duration, chaos count, basket mix). FTR-weighted vote reshapes round 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6B6B"/>
                </a:solidFill>
                <a:latin typeface="Liberation Mono"/>
              </a:rPr>
              <a:t>06  ·  SHIPPED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F5F5F0"/>
                </a:solidFill>
                <a:latin typeface="Liberation Sans"/>
              </a:rPr>
              <a:t>What's live on devnet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5440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FF85"/>
                </a:solidFill>
                <a:latin typeface="Liberation Sans"/>
              </a:rPr>
              <a:t>· Anchor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5440680" cy="5943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A0A0A0"/>
                </a:solidFill>
                <a:latin typeface="Liberation Sans"/>
              </a:rPr>
              <a:t>Fh6b…JHJbH · 24 instructions · 9 accounts · all files ≤150 LOC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2606040"/>
            <a:ext cx="5440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D23F"/>
                </a:solidFill>
                <a:latin typeface="Liberation Sans"/>
              </a:rPr>
              <a:t>· real.ts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926080"/>
            <a:ext cx="5440680" cy="5943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A0A0A0"/>
                </a:solidFill>
                <a:latin typeface="Liberation Sans"/>
              </a:rPr>
              <a:t>All 18 api functions wired against the on-chain program (zero notWired)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5440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FF85"/>
                </a:solidFill>
                <a:latin typeface="Liberation Sans"/>
              </a:rPr>
              <a:t>· 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0480"/>
            <a:ext cx="5440680" cy="5943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A0A0A0"/>
                </a:solidFill>
                <a:latin typeface="Liberation Sans"/>
              </a:rPr>
              <a:t>10 routes · shadcn primitives · Framer Motion FLIP animations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520440"/>
            <a:ext cx="5440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D23F"/>
                </a:solidFill>
                <a:latin typeface="Liberation Sans"/>
              </a:rPr>
              <a:t>· Idempotent bootstrap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840480"/>
            <a:ext cx="5440680" cy="5943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A0A0A0"/>
                </a:solidFill>
                <a:latin typeface="Liberation Sans"/>
              </a:rPr>
              <a:t>init_config + init_ftr_mint script; re-runs detect existing PDAs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5440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FF85"/>
                </a:solidFill>
                <a:latin typeface="Liberation Sans"/>
              </a:rPr>
              <a:t>· MagicBlock helpers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54879"/>
            <a:ext cx="5440680" cy="5943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A0A0A0"/>
                </a:solidFill>
                <a:latin typeface="Liberation Sans"/>
              </a:rPr>
              <a:t>Dual-connection base/ER + router getDelegationStatus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434840"/>
            <a:ext cx="5440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D23F"/>
                </a:solidFill>
                <a:latin typeface="Liberation Sans"/>
              </a:rPr>
              <a:t>· Vercel deploy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4754879"/>
            <a:ext cx="5440680" cy="5943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A0A0A0"/>
                </a:solidFill>
                <a:latin typeface="Liberation Sans"/>
              </a:rPr>
              <a:t>https://conviction-nine.vercel.app — all 7 routes return 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49240"/>
            <a:ext cx="5440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FF85"/>
                </a:solidFill>
                <a:latin typeface="Liberation Sans"/>
              </a:rPr>
              <a:t>· Birdeye live prices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669279"/>
            <a:ext cx="5440680" cy="5943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A0A0A0"/>
                </a:solidFill>
                <a:latin typeface="Liberation Sans"/>
              </a:rPr>
              <a:t>10s polling with seeded-walk fallback + Sonner toast on 401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5349240"/>
            <a:ext cx="5440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D23F"/>
                </a:solidFill>
                <a:latin typeface="Liberation Sans"/>
              </a:rPr>
              <a:t>· GitHub repo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5669279"/>
            <a:ext cx="5440680" cy="5943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A0A0A0"/>
                </a:solidFill>
                <a:latin typeface="Liberation Sans"/>
              </a:rPr>
              <a:t>11 commits, README + ADRs 0001-0005 + demo recording script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6B6B"/>
                </a:solidFill>
                <a:latin typeface="Liberation Mono"/>
              </a:rPr>
              <a:t>07  ·  ON-CHAIN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F5F5F0"/>
                </a:solidFill>
                <a:latin typeface="Liberation Sans"/>
              </a:rPr>
              <a:t>Devnet state, fully bootstrapped.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0FF85"/>
                </a:solidFill>
                <a:latin typeface="Liberation Mono"/>
              </a:rPr>
              <a:t>PROGRAM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2651760"/>
            <a:ext cx="8595360" cy="4572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54680" y="269748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5F5F0"/>
                </a:solidFill>
                <a:latin typeface="Liberation Mono"/>
              </a:rPr>
              <a:t>Fh6bQUgE35Hq7nP22GZ1Youwnph2UaiEh9xTtDJuHJbH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0FF85"/>
                </a:solidFill>
                <a:latin typeface="Liberation Mono"/>
              </a:rPr>
              <a:t>GameConfig PDA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3429000"/>
            <a:ext cx="8595360" cy="4572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347472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5F5F0"/>
                </a:solidFill>
                <a:latin typeface="Liberation Mono"/>
              </a:rPr>
              <a:t>54Lyv5mQqUm2z5hCp4nzDWSWwRZUViohvRt82kkgeti2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519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0FF85"/>
                </a:solidFill>
                <a:latin typeface="Liberation Mono"/>
              </a:rPr>
              <a:t>RoundCounter PDA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4206240"/>
            <a:ext cx="8595360" cy="4572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54680" y="425196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5F5F0"/>
                </a:solidFill>
                <a:latin typeface="Liberation Mono"/>
              </a:rPr>
              <a:t>7tizNzRh66ah4jB4HzEG7nHryNv2hvyV38fb4BPdTkwS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2920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0FF85"/>
                </a:solidFill>
                <a:latin typeface="Liberation Mono"/>
              </a:rPr>
              <a:t>FTR mint (SPL)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983480"/>
            <a:ext cx="8595360" cy="4572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502920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5F5F0"/>
                </a:solidFill>
                <a:latin typeface="Liberation Mono"/>
              </a:rPr>
              <a:t>21Rki1gfiUYbM4bdyhma4TRWjYeS1SCXNb8ENKqsTr7V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B6B"/>
                </a:solidFill>
                <a:latin typeface="Liberation Mono"/>
              </a:rPr>
              <a:t>EXPLORER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FF85"/>
                </a:solidFill>
                <a:latin typeface="Liberation Mono"/>
              </a:rPr>
              <a:t>explorer.solana.com/address/Fh6b…JHJbH?cluster=devnet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6B6B"/>
                </a:solidFill>
                <a:latin typeface="Liberation Mono"/>
              </a:rPr>
              <a:t>08  · 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F5F5F0"/>
                </a:solidFill>
                <a:latin typeface="Liberation Sans"/>
              </a:rPr>
              <a:t>Phases 0 → 8, all shipped.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0FF85"/>
                </a:solidFill>
                <a:latin typeface="Liberation Mono"/>
              </a:rPr>
              <a:t>Phase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606040"/>
            <a:ext cx="4160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0A0A0"/>
                </a:solidFill>
                <a:latin typeface="Liberation Sans"/>
              </a:rPr>
              <a:t>ER / PER / VRF spike — architecture proven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16936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0FF85"/>
                </a:solidFill>
                <a:latin typeface="Liberation Mono"/>
              </a:rPr>
              <a:t>Phase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916936"/>
            <a:ext cx="4160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0A0A0"/>
                </a:solidFill>
                <a:latin typeface="Liberation Sans"/>
              </a:rPr>
              <a:t>Conviction MVP deployed to devnet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27832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0FF85"/>
                </a:solidFill>
                <a:latin typeface="Liberation Mono"/>
              </a:rPr>
              <a:t>Phase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227832"/>
            <a:ext cx="4160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0A0A0"/>
                </a:solidFill>
                <a:latin typeface="Liberation Sans"/>
              </a:rPr>
              <a:t>Frontend with 10 routes + mock-first data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38728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0FF85"/>
                </a:solidFill>
                <a:latin typeface="Liberation Mono"/>
              </a:rPr>
              <a:t>Phase B+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538728"/>
            <a:ext cx="4160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0A0A0"/>
                </a:solidFill>
                <a:latin typeface="Liberation Sans"/>
              </a:rPr>
              <a:t>Per-ix file refactor (50+ files, all ≤150 LOC)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49624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0FF85"/>
                </a:solidFill>
                <a:latin typeface="Liberation Mono"/>
              </a:rPr>
              <a:t>Phase B+2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49624"/>
            <a:ext cx="4160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0A0A0"/>
                </a:solidFill>
                <a:latin typeface="Liberation Sans"/>
              </a:rPr>
              <a:t>Spectator trim — 26 → 23 instructions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160520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0FF85"/>
                </a:solidFill>
                <a:latin typeface="Liberation Mono"/>
              </a:rPr>
              <a:t>Phase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160520"/>
            <a:ext cx="4160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0A0A0"/>
                </a:solidFill>
                <a:latin typeface="Liberation Sans"/>
              </a:rPr>
              <a:t>On-chain gap fixes: fold + leave_match + tick_price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71416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0FF85"/>
                </a:solidFill>
                <a:latin typeface="Liberation Mono"/>
              </a:rPr>
              <a:t>Phase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471416"/>
            <a:ext cx="4160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0A0A0"/>
                </a:solidFill>
                <a:latin typeface="Liberation Sans"/>
              </a:rPr>
              <a:t>Basket-band fix (StopLossRange model)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606040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0FF85"/>
                </a:solidFill>
                <a:latin typeface="Liberation Mono"/>
              </a:rPr>
              <a:t>Phase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606040"/>
            <a:ext cx="4160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0A0A0"/>
                </a:solidFill>
                <a:latin typeface="Liberation Sans"/>
              </a:rPr>
              <a:t>real.ts wire-up against devnet — all 18 functions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916936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0FF85"/>
                </a:solidFill>
                <a:latin typeface="Liberation Mono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2916936"/>
            <a:ext cx="4160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0A0A0"/>
                </a:solidFill>
                <a:latin typeface="Liberation Sans"/>
              </a:rPr>
              <a:t>Birdeye live prices wired into price-chart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227832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0FF85"/>
                </a:solidFill>
                <a:latin typeface="Liberation Mono"/>
              </a:rPr>
              <a:t>Phase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3227832"/>
            <a:ext cx="4160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0A0A0"/>
                </a:solidFill>
                <a:latin typeface="Liberation Sans"/>
              </a:rPr>
              <a:t>On-chain bootstrap (GameConfig + FTR mint)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538728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0FF85"/>
                </a:solidFill>
                <a:latin typeface="Liberation Mono"/>
              </a:rPr>
              <a:t>Phase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3538728"/>
            <a:ext cx="4160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0A0A0"/>
                </a:solidFill>
                <a:latin typeface="Liberation Sans"/>
              </a:rPr>
              <a:t>Vercel deploy artifacts (conviction-nine.vercel.app)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849624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0FF85"/>
                </a:solidFill>
                <a:latin typeface="Liberation Mono"/>
              </a:rPr>
              <a:t>Phase 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3849624"/>
            <a:ext cx="4160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0A0A0"/>
                </a:solidFill>
                <a:latin typeface="Liberation Sans"/>
              </a:rPr>
              <a:t>Spectator mock-data fallback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160520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0FF85"/>
                </a:solidFill>
                <a:latin typeface="Liberation Mono"/>
              </a:rPr>
              <a:t>Phase 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79" y="4160520"/>
            <a:ext cx="4160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0A0A0"/>
                </a:solidFill>
                <a:latin typeface="Liberation Sans"/>
              </a:rPr>
              <a:t>Frontend redesign (mission control, reveal, landing)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FD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D23F"/>
                </a:solidFill>
                <a:latin typeface="Liberation Mono"/>
              </a:rPr>
              <a:t>09  ·  UPCOMING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F5F5F0"/>
                </a:solidFill>
                <a:latin typeface="Liberation Sans"/>
              </a:rPr>
              <a:t>Spectator PER-sealed bids.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A0A0A0"/>
                </a:solidFill>
                <a:latin typeface="Liberation Sans"/>
              </a:rPr>
              <a:t>A prediction market that runs alongside the round.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34640"/>
            <a:ext cx="54864" cy="640080"/>
          </a:xfrm>
          <a:prstGeom prst="rect">
            <a:avLst/>
          </a:prstGeom>
          <a:solidFill>
            <a:srgbClr val="FFD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07208"/>
            <a:ext cx="1463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D23F"/>
                </a:solidFill>
                <a:latin typeface="Liberation Mono"/>
              </a:rPr>
              <a:t>1. 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78892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5F5F0"/>
                </a:solidFill>
                <a:latin typeface="Liberation Sans"/>
              </a:rPr>
              <a:t>Spectators commit a hashed prediction + amount to /spectate/[id]. The bid is sealed behind a PER member-set so the rival can't see the pool.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547872"/>
            <a:ext cx="54864" cy="640080"/>
          </a:xfrm>
          <a:prstGeom prst="rect">
            <a:avLst/>
          </a:prstGeom>
          <a:solidFill>
            <a:srgbClr val="FFD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463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D23F"/>
                </a:solidFill>
                <a:latin typeface="Liberation Mono"/>
              </a:rPr>
              <a:t>2. WAIT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502152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5F5F0"/>
                </a:solidFill>
                <a:latin typeface="Liberation Sans"/>
              </a:rPr>
              <a:t>Round plays out. Bids stay sealed.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261104"/>
            <a:ext cx="54864" cy="640080"/>
          </a:xfrm>
          <a:prstGeom prst="rect">
            <a:avLst/>
          </a:prstGeom>
          <a:solidFill>
            <a:srgbClr val="FFD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33672"/>
            <a:ext cx="1463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D23F"/>
                </a:solidFill>
                <a:latin typeface="Liberation Mono"/>
              </a:rPr>
              <a:t>3. REVEAL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215384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5F5F0"/>
                </a:solidFill>
                <a:latin typeface="Liberation Sans"/>
              </a:rPr>
              <a:t>At reveal_round, PER opens. Preimages are checked against on-chain outcomes (first-fold, last-holding, chaos-count, perfect-round).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974336"/>
            <a:ext cx="54864" cy="640080"/>
          </a:xfrm>
          <a:prstGeom prst="rect">
            <a:avLst/>
          </a:prstGeom>
          <a:solidFill>
            <a:srgbClr val="FFD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946904"/>
            <a:ext cx="1463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D23F"/>
                </a:solidFill>
                <a:latin typeface="Liberation Mono"/>
              </a:rPr>
              <a:t>4. SETTLE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928616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5F5F0"/>
                </a:solidFill>
                <a:latin typeface="Liberation Sans"/>
              </a:rPr>
              <a:t>Correct bids win the pool (minus a small house cut). Top predictors earn the "Whale Watcher" badge.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852160"/>
            <a:ext cx="11064240" cy="77724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94360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D23F"/>
                </a:solidFill>
                <a:latin typeface="Liberation Mono"/>
              </a:rPr>
              <a:t>WHY IT MATTERS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236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F5F5F0"/>
                </a:solidFill>
                <a:latin typeface="Liberation Sans"/>
              </a:rPr>
              <a:t>Spectator bids are the second economy. They make the watch-as-good-as-play thesis real.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00FF85"/>
                </a:solidFill>
                <a:latin typeface="Liberation Mono"/>
              </a:rPr>
              <a:t>10  ·  UPCOMING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F5F5F0"/>
                </a:solidFill>
                <a:latin typeface="Liberation Sans"/>
              </a:rPr>
              <a:t>Token universe governance.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A0A0A0"/>
                </a:solidFill>
                <a:latin typeface="Liberation Sans"/>
              </a:rPr>
              <a:t>FTR holders curate which SPL mints are eligible to be picked.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34640"/>
            <a:ext cx="54864" cy="640080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07208"/>
            <a:ext cx="1463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0FF85"/>
                </a:solidFill>
                <a:latin typeface="Liberation Mono"/>
              </a:rPr>
              <a:t>1. PROPOSE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78892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5F5F0"/>
                </a:solidFill>
                <a:latin typeface="Liberation Sans"/>
              </a:rPr>
              <a:t>Any FTR holder calls proposeAddToken with a SPL mint address + a short rationale. The proposal hits the chain immediately.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547872"/>
            <a:ext cx="54864" cy="640080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463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0FF85"/>
                </a:solidFill>
                <a:latin typeface="Liberation Mono"/>
              </a:rPr>
              <a:t>2. VOTE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502152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5F5F0"/>
                </a:solidFill>
                <a:latin typeface="Liberation Sans"/>
              </a:rPr>
              <a:t>FTR-weighted vote over a 7-day window. voteOnToken with support_yes / support_no. Quorum = 5% of circulating FTR.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261104"/>
            <a:ext cx="54864" cy="640080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33672"/>
            <a:ext cx="1463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0FF85"/>
                </a:solidFill>
                <a:latin typeface="Liberation Mono"/>
              </a:rPr>
              <a:t>3. ADD OR REJECT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215384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5F5F0"/>
                </a:solidFill>
                <a:latin typeface="Liberation Sans"/>
              </a:rPr>
              <a:t>tallyTokenProposal either appends the mint to TOKEN_UNIVERSE or rejects. Both branches emit a ProposalClosed event.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974336"/>
            <a:ext cx="54864" cy="640080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946904"/>
            <a:ext cx="1463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0FF85"/>
                </a:solidFill>
                <a:latin typeface="Liberation Mono"/>
              </a:rPr>
              <a:t>4. CURATED UNIVERSE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928616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5F5F0"/>
                </a:solidFill>
                <a:latin typeface="Liberation Sans"/>
              </a:rPr>
              <a:t>Newly added mints are eligible for villains, basket slots, and chaos events from the next round onwards.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852160"/>
            <a:ext cx="11064240" cy="77724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94360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00FF85"/>
                </a:solidFill>
                <a:latin typeface="Liberation Mono"/>
              </a:rPr>
              <a:t>WHY IT MATTERS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236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F5F5F0"/>
                </a:solidFill>
                <a:latin typeface="Liberation Sans"/>
              </a:rPr>
              <a:t>The 25-token universe isn't a one-time decision — it's a continuous, token-holder-curated feed.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9EFF"/>
                </a:solidFill>
                <a:latin typeface="Liberation Mono"/>
              </a:rPr>
              <a:t>11  ·  UPCOMING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F5F5F0"/>
                </a:solidFill>
                <a:latin typeface="Liberation Sans"/>
              </a:rPr>
              <a:t>FTR immunity pick.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A0A0A0"/>
                </a:solidFill>
                <a:latin typeface="Liberation Sans"/>
              </a:rPr>
              <a:t>FTR holders exclude one mint from VRF's reach for the round they vote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34640"/>
            <a:ext cx="5486400" cy="27432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834640"/>
            <a:ext cx="5486400" cy="54864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9718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4A9EFF"/>
                </a:solidFill>
                <a:latin typeface="Liberation Mono"/>
              </a:rPr>
              <a:t>VRF PICK (default)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5F5F0"/>
                </a:solidFill>
                <a:latin typeface="Liberation Sans"/>
              </a:rPr>
              <a:t>Uniform random over 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86200"/>
            <a:ext cx="5029200" cy="16002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A0A0A0"/>
                </a:solidFill>
                <a:latin typeface="Liberation Sans"/>
              </a:rPr>
              <a:t>Each round, VRF rolls a uniform random index over TOKEN_UNIVERSE and the chosen mint becomes the villain.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A0A0A0"/>
                </a:solidFill>
                <a:latin typeface="Liberation San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A0A0A0"/>
                </a:solidFill>
                <a:latin typeface="Liberation Sans"/>
              </a:rPr>
              <a:t>Fair and provable, but means any held token can be the villain — including one you're long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834640"/>
            <a:ext cx="5486400" cy="27432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2834640"/>
            <a:ext cx="5486400" cy="54864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9718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0FF85"/>
                </a:solidFill>
                <a:latin typeface="Liberation Mono"/>
              </a:rPr>
              <a:t>IMMUNITY PICK (FTR-gated)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3832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5F5F0"/>
                </a:solidFill>
                <a:latin typeface="Liberation Sans"/>
              </a:rPr>
              <a:t>One mint excluded per 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886200"/>
            <a:ext cx="5029200" cy="16002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A0A0A0"/>
                </a:solidFill>
                <a:latin typeface="Liberation Sans"/>
              </a:rPr>
              <a:t>Before requestVillainVrf, FTR holders vote on a single mint to exclude. The VRF roll skips that index.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A0A0A0"/>
                </a:solidFill>
                <a:latin typeface="Liberation San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A0A0A0"/>
                </a:solidFill>
                <a:latin typeface="Liberation Sans"/>
              </a:rPr>
              <a:t>FTR concentration creates strategic immunity — long-term holders can protect their position across many rounds.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760720"/>
            <a:ext cx="11064240" cy="86868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870448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9EFF"/>
                </a:solidFill>
                <a:latin typeface="Liberation Mono"/>
              </a:rPr>
              <a:t>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6305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5F5F0"/>
                </a:solidFill>
                <a:latin typeface="Liberation Mono"/>
              </a:rPr>
              <a:t>FTR vote → tallyImmunityPick → excludeIndex → VRF rolls over the filtered universe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6B6B"/>
                </a:solidFill>
                <a:latin typeface="Liberation Mono"/>
              </a:rPr>
              <a:t>12  · 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F5F5F0"/>
                </a:solidFill>
                <a:latin typeface="Liberation Sans"/>
              </a:rPr>
              <a:t>The game is the startup pitch.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A0A0A0"/>
                </a:solidFill>
                <a:latin typeface="Liberation Sans"/>
              </a:rPr>
              <a:t>Every round of Conviction is a 15-minute governance experiment. The winner shapes the next round.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520440"/>
            <a:ext cx="54864" cy="502920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747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5F5F0"/>
                </a:solidFill>
                <a:latin typeface="Liberation Sans"/>
              </a:rPr>
              <a:t>FTR mints create an economy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A0A0A0"/>
                </a:solidFill>
                <a:latin typeface="Liberation Sans"/>
              </a:rPr>
              <a:t>Players who win rounds accumulate governance weight. Skin in the game.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206240"/>
            <a:ext cx="54864" cy="502920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160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5F5F0"/>
                </a:solidFill>
                <a:latin typeface="Liberation Sans"/>
              </a:rPr>
              <a:t>Baskets diversify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80559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A0A0A0"/>
                </a:solidFill>
                <a:latin typeface="Liberation Sans"/>
              </a:rPr>
              <a:t>A winning meta emerges as FTR holders vote on which tokens belong in TOKEN_UNIVERSE.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892040"/>
            <a:ext cx="54864" cy="502920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5F5F0"/>
                </a:solidFill>
                <a:latin typeface="Liberation Sans"/>
              </a:rPr>
              <a:t>Immunity creates moats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66359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A0A0A0"/>
                </a:solidFill>
                <a:latin typeface="Liberation Sans"/>
              </a:rPr>
              <a:t>Long-term FTR holders can protect their long positions — same mechanic as token-curated registries.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54864" cy="502920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5321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5F5F0"/>
                </a:solidFill>
                <a:latin typeface="Liberation Sans"/>
              </a:rPr>
              <a:t>Spectator bids add liquidity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52159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A0A0A0"/>
                </a:solidFill>
                <a:latin typeface="Liberation Sans"/>
              </a:rPr>
              <a:t>The prediction market becomes the second economy. Whale Watcher badge as reputation.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F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6B6B"/>
                </a:solidFill>
                <a:latin typeface="Liberation Mono"/>
              </a:rPr>
              <a:t>THANKS · MAGICBLOCK BLITZ V8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F5F5F0"/>
                </a:solidFill>
                <a:latin typeface="Liberation Sans"/>
              </a:rPr>
              <a:t>Conviction.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A0A0A0"/>
                </a:solidFill>
                <a:latin typeface="Liberation Sans"/>
              </a:rPr>
              <a:t>Risk duel on Solana · ER · PER · VRF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31920"/>
            <a:ext cx="2779776" cy="310896"/>
          </a:xfrm>
          <a:prstGeom prst="roundRect">
            <a:avLst/>
          </a:prstGeom>
          <a:solidFill>
            <a:srgbClr val="1F1F1F"/>
          </a:solidFill>
          <a:ln w="12700">
            <a:solidFill>
              <a:srgbClr val="00FF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54864" bIns="54864" wrap="none"/>
          <a:lstStyle/>
          <a:p>
            <a:pPr algn="ctr"/>
            <a:r>
              <a:rPr sz="1000" b="1">
                <a:solidFill>
                  <a:srgbClr val="00FF85"/>
                </a:solidFill>
                <a:latin typeface="Liberation Mono"/>
              </a:rPr>
              <a:t>LIVE  conviction-nine.vercel.app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34840"/>
            <a:ext cx="3246120" cy="310896"/>
          </a:xfrm>
          <a:prstGeom prst="roundRect">
            <a:avLst/>
          </a:prstGeom>
          <a:solidFill>
            <a:srgbClr val="1F1F1F"/>
          </a:solidFill>
          <a:ln w="1270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54864" bIns="54864" wrap="none"/>
          <a:lstStyle/>
          <a:p>
            <a:pPr algn="ctr"/>
            <a:r>
              <a:rPr sz="1000" b="1">
                <a:solidFill>
                  <a:srgbClr val="4A9EFF"/>
                </a:solidFill>
                <a:latin typeface="Liberation Mono"/>
              </a:rPr>
              <a:t>REPO  github.com/Rujul-1105/conviction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937759"/>
            <a:ext cx="2546604" cy="310896"/>
          </a:xfrm>
          <a:prstGeom prst="roundRect">
            <a:avLst/>
          </a:prstGeom>
          <a:solidFill>
            <a:srgbClr val="1F1F1F"/>
          </a:solidFill>
          <a:ln w="12700">
            <a:solidFill>
              <a:srgbClr val="FFD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54864" bIns="54864" wrap="none"/>
          <a:lstStyle/>
          <a:p>
            <a:pPr algn="ctr"/>
            <a:r>
              <a:rPr sz="1000" b="1">
                <a:solidFill>
                  <a:srgbClr val="FFD23F"/>
                </a:solidFill>
                <a:latin typeface="Liberation Mono"/>
              </a:rPr>
              <a:t>EXPLORER  Fh6b…JHJbH (devnet)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5F5F0"/>
                </a:solidFill>
                <a:latin typeface="Liberation Sans"/>
              </a:rPr>
              <a:t>Rujul · @rujulmatta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6B6B"/>
                </a:solidFill>
                <a:latin typeface="Liberation Mono"/>
              </a:rPr>
              <a:t>conviction-nine.vercel.app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