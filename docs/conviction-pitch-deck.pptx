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F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JetBrains Mono"/>
              </a:rPr>
              <a:t>MAGICBLOCK BLITZ V8 · PATH A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164592" cy="164592"/>
          </a:xfrm>
          <a:prstGeom prst="ellipse">
            <a:avLst/>
          </a:prstGeom>
          <a:solidFill>
            <a:srgbClr val="00F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200" b="1" i="0">
                <a:solidFill>
                  <a:srgbClr val="F5F5F0"/>
                </a:solidFill>
                <a:latin typeface="Oxanium"/>
              </a:rPr>
              <a:t>Conviction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1">
                <a:solidFill>
                  <a:srgbClr val="A0A0A0"/>
                </a:solidFill>
                <a:latin typeface="Inter"/>
              </a:rPr>
              <a:t>A real-time risk duel on Solana.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03320"/>
            <a:ext cx="1225296" cy="457200"/>
          </a:xfrm>
          <a:prstGeom prst="roundRect">
            <a:avLst/>
          </a:prstGeom>
          <a:solidFill>
            <a:srgbClr val="1F1F1F"/>
          </a:solidFill>
          <a:ln w="12700">
            <a:solidFill>
              <a:srgbClr val="00FF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73152" wrap="none"/>
          <a:lstStyle/>
          <a:p>
            <a:pPr algn="ctr"/>
            <a:r>
              <a:rPr sz="1000" b="1">
                <a:solidFill>
                  <a:srgbClr val="00FF85"/>
                </a:solidFill>
                <a:latin typeface="JetBrains Mono"/>
              </a:rPr>
              <a:t>TEAM VS TEAM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3703320"/>
            <a:ext cx="1613916" cy="457200"/>
          </a:xfrm>
          <a:prstGeom prst="roundRect">
            <a:avLst/>
          </a:prstGeom>
          <a:solidFill>
            <a:srgbClr val="1F1F1F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73152" wrap="none"/>
          <a:lstStyle/>
          <a:p>
            <a:pPr algn="ctr"/>
            <a:r>
              <a:rPr sz="1000" b="1">
                <a:solidFill>
                  <a:srgbClr val="4A9EFF"/>
                </a:solidFill>
                <a:latin typeface="JetBrains Mono"/>
              </a:rPr>
              <a:t>HIDDEN THRESHOLDS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80460" y="3703320"/>
            <a:ext cx="992124" cy="457200"/>
          </a:xfrm>
          <a:prstGeom prst="roundRect">
            <a:avLst/>
          </a:prstGeom>
          <a:solidFill>
            <a:srgbClr val="1F1F1F"/>
          </a:solidFill>
          <a:ln w="12700">
            <a:solidFill>
              <a:srgbClr val="FFD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73152" wrap="none"/>
          <a:lstStyle/>
          <a:p>
            <a:pPr algn="ctr"/>
            <a:r>
              <a:rPr sz="1000" b="1">
                <a:solidFill>
                  <a:srgbClr val="FFD23F"/>
                </a:solidFill>
                <a:latin typeface="JetBrains Mono"/>
              </a:rPr>
              <a:t>VRF CHAOS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18888" y="3703320"/>
            <a:ext cx="1613916" cy="457200"/>
          </a:xfrm>
          <a:prstGeom prst="roundRect">
            <a:avLst/>
          </a:prstGeom>
          <a:solidFill>
            <a:srgbClr val="1F1F1F"/>
          </a:solidFill>
          <a:ln w="127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73152" wrap="none"/>
          <a:lstStyle/>
          <a:p>
            <a:pPr algn="ctr"/>
            <a:r>
              <a:rPr sz="1000" b="1">
                <a:solidFill>
                  <a:srgbClr val="9D4EDD"/>
                </a:solidFill>
                <a:latin typeface="JetBrains Mono"/>
              </a:rPr>
              <a:t>GOVERNANCE-DRIVEN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5F5F0"/>
                </a:solidFill>
                <a:latin typeface="Inter"/>
              </a:rPr>
              <a:t>Rujul · @rujulmatta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B6B6B"/>
                </a:solidFill>
                <a:latin typeface="JetBrains Mono"/>
              </a:rPr>
              <a:t>conviction-nine.vercel.app · Sep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JetBrains Mono"/>
              </a:rPr>
              <a:t>01 ·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i="0">
                <a:solidFill>
                  <a:srgbClr val="F5F5F0"/>
                </a:solidFill>
                <a:latin typeface="Oxanium"/>
              </a:rPr>
              <a:t>Trading games on L1 can't have secrets.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1">
                <a:solidFill>
                  <a:srgbClr val="A0A0A0"/>
                </a:solidFill>
                <a:latin typeface="Inter"/>
              </a:rPr>
              <a:t>Three things every interesting game needs, and Solana L1 blocks all three: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926080"/>
            <a:ext cx="45720" cy="731520"/>
          </a:xfrm>
          <a:prstGeom prst="rect">
            <a:avLst/>
          </a:prstGeom>
          <a:solidFill>
            <a:srgbClr val="00F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5F5F0"/>
                </a:solidFill>
                <a:latin typeface="Inter"/>
              </a:rPr>
              <a:t>Hidden commitments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A0A0A0"/>
                </a:solidFill>
                <a:latin typeface="Inter"/>
              </a:rPr>
              <a:t>A "sealed" threshold on L1 is readable by everyone. The rival front-runs the fold and the strategy disappears.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886200"/>
            <a:ext cx="45720" cy="731520"/>
          </a:xfrm>
          <a:prstGeom prst="rect">
            <a:avLst/>
          </a:prstGeom>
          <a:solidFill>
            <a:srgbClr val="00F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840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5F5F0"/>
                </a:solidFill>
                <a:latin typeface="Inter"/>
              </a:rPr>
              <a:t>Provable randomness mid-round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062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A0A0A0"/>
                </a:solidFill>
                <a:latin typeface="Inter"/>
              </a:rPr>
              <a:t>A trusted oracle breaks trust. A pre-committed hash breaks the cinematic.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846320"/>
            <a:ext cx="45720" cy="731520"/>
          </a:xfrm>
          <a:prstGeom prst="rect">
            <a:avLst/>
          </a:prstGeom>
          <a:solidFill>
            <a:srgbClr val="00F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800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5F5F0"/>
                </a:solidFill>
                <a:latin typeface="Inter"/>
              </a:rPr>
              <a:t>Real-time UX at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66359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A0A0A0"/>
                </a:solidFill>
                <a:latin typeface="Inter"/>
              </a:rPr>
              <a:t>Per-second price ticks on L1 = paid txs on a 400ms slot. Every state change is permanent bloat.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JetBrains Mono"/>
              </a:rPr>
              <a:t>02 ·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i="0">
                <a:solidFill>
                  <a:srgbClr val="F5F5F0"/>
                </a:solidFill>
                <a:latin typeface="Oxanium"/>
              </a:rPr>
              <a:t>Conviction: a real-time risk duel.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F5F5F0"/>
                </a:solidFill>
                <a:latin typeface="Inter"/>
              </a:rPr>
              <a:t>Two teams each lock a 2-3 token basket behind a sealed threshold band.</a:t>
            </a:r>
          </a:p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F5F5F0"/>
                </a:solidFill>
                <a:latin typeface="Inter"/>
              </a:rPr>
              <a:t>The basket that breaks out of the band first auto-folds; the survivor mints FTR (Founder Token) and votes on the next round.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657600"/>
            <a:ext cx="3566160" cy="219456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3657600"/>
            <a:ext cx="3566160" cy="54864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93192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4A9EFF"/>
                </a:solidFill>
                <a:latin typeface="Oxanium"/>
              </a:rPr>
              <a:t>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8056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A0A0A0"/>
                </a:solidFill>
                <a:latin typeface="Inter"/>
              </a:rPr>
              <a:t>Lock basket + band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3657600"/>
            <a:ext cx="3566160" cy="219456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79" y="3657600"/>
            <a:ext cx="3566160" cy="54864"/>
          </a:xfrm>
          <a:prstGeom prst="rect">
            <a:avLst/>
          </a:prstGeom>
          <a:solidFill>
            <a:srgbClr val="FFD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79" y="393192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FD23F"/>
                </a:solidFill>
                <a:latin typeface="Oxanium"/>
              </a:rPr>
              <a:t>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448056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A0A0A0"/>
                </a:solidFill>
                <a:latin typeface="Inter"/>
              </a:rPr>
              <a:t>VRF + chaos callbacks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3657600"/>
            <a:ext cx="3566160" cy="219456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19" y="3657600"/>
            <a:ext cx="3566160" cy="54864"/>
          </a:xfrm>
          <a:prstGeom prst="rect">
            <a:avLst/>
          </a:prstGeom>
          <a:solidFill>
            <a:srgbClr val="00F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393192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0FF85"/>
                </a:solidFill>
                <a:latin typeface="Oxanium"/>
              </a:rPr>
              <a:t>REVEAL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448056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A0A0A0"/>
                </a:solidFill>
                <a:latin typeface="Inter"/>
              </a:rPr>
              <a:t>FTR governance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JetBrains Mono"/>
              </a:rPr>
              <a:t>03 · WHY MAGICBLOCK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i="0">
                <a:solidFill>
                  <a:srgbClr val="F5F5F0"/>
                </a:solidFill>
                <a:latin typeface="Oxanium"/>
              </a:rPr>
              <a:t>Three primitives, three jobs.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1064240" cy="132588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73152" cy="1325880"/>
          </a:xfrm>
          <a:prstGeom prst="rect">
            <a:avLst/>
          </a:prstGeom>
          <a:solidFill>
            <a:srgbClr val="00F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240280"/>
            <a:ext cx="777240" cy="384048"/>
          </a:xfrm>
          <a:prstGeom prst="roundRect">
            <a:avLst/>
          </a:prstGeom>
          <a:solidFill>
            <a:srgbClr val="00F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A0A0A"/>
                </a:solidFill>
                <a:latin typeface="JetBrains Mono"/>
              </a:rPr>
              <a:t>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24028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5F0"/>
                </a:solidFill>
                <a:latin typeface="Oxanium"/>
              </a:rPr>
              <a:t>Permissioned 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69748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A0A0A0"/>
                </a:solidFill>
                <a:latin typeface="Inter"/>
              </a:rPr>
              <a:t>Seals each team's threshold behind a member-set until finalize_round reveals. Without it, the rival reads your StopLoss PDA off base layer and front-runs the fold.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474720"/>
            <a:ext cx="11064240" cy="132588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474720"/>
            <a:ext cx="73152" cy="1325880"/>
          </a:xfrm>
          <a:prstGeom prst="rect">
            <a:avLst/>
          </a:prstGeom>
          <a:solidFill>
            <a:srgbClr val="FFD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3703320"/>
            <a:ext cx="777240" cy="384048"/>
          </a:xfrm>
          <a:prstGeom prst="roundRect">
            <a:avLst/>
          </a:prstGeom>
          <a:solidFill>
            <a:srgbClr val="FFD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A0A0A"/>
                </a:solidFill>
                <a:latin typeface="JetBrains Mono"/>
              </a:rPr>
              <a:t>VRF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70332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5F0"/>
                </a:solidFill>
                <a:latin typeface="Oxanium"/>
              </a:rPr>
              <a:t>MagicBlock VRF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16052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A0A0A0"/>
                </a:solidFill>
                <a:latin typeface="Inter"/>
              </a:rPr>
              <a:t>Fires villain token + chaos-event callbacks mid-round. A trusted oracle breaks trust; a pre-committed hash breaks the cinematic.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937760"/>
            <a:ext cx="11064240" cy="132588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937760"/>
            <a:ext cx="73152" cy="132588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5166360"/>
            <a:ext cx="777240" cy="384048"/>
          </a:xfrm>
          <a:prstGeom prst="round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A0A0A"/>
                </a:solidFill>
                <a:latin typeface="JetBrains Mono"/>
              </a:rPr>
              <a:t>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516636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5F0"/>
                </a:solidFill>
                <a:latin typeface="Oxanium"/>
              </a:rPr>
              <a:t>Ephemeral Rollups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562356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A0A0A0"/>
                </a:solidFill>
                <a:latin typeface="Inter"/>
              </a:rPr>
              <a:t>Per-second price ticks cheap, fast, and ephemeral. On L1 every tick is a paid tx on a 400ms slot. ER keeps mid-round state off base and only settles the final result.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JetBrains Mono"/>
              </a:rPr>
              <a:t>04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i="0">
                <a:solidFill>
                  <a:srgbClr val="F5F5F0"/>
                </a:solidFill>
                <a:latin typeface="Oxanium"/>
              </a:rPr>
              <a:t>How it fits together.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94560"/>
            <a:ext cx="3657600" cy="18288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3657600" cy="54864"/>
          </a:xfrm>
          <a:prstGeom prst="rect">
            <a:avLst/>
          </a:prstGeom>
          <a:solidFill>
            <a:srgbClr val="00F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0FF85"/>
                </a:solidFill>
                <a:latin typeface="JetBrains Mono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F5F5F0"/>
                </a:solidFill>
                <a:latin typeface="Oxanium"/>
              </a:rPr>
              <a:t>Next.js 14 (Vercel)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0A0A0"/>
                </a:solidFill>
                <a:latin typeface="JetBrains Mono"/>
              </a:rPr>
              <a:t>10 routes · shadcn · Framer Motion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2044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A0A0A0"/>
                </a:solidFill>
                <a:latin typeface="JetBrains Mono"/>
              </a:rPr>
              <a:t>app/lib/api/real.ts (18 fns wired)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033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A0A0A0"/>
                </a:solidFill>
                <a:latin typeface="JetBrains Mono"/>
              </a:rPr>
              <a:t>app/lib/anchor/* (PDA + context)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2194560"/>
            <a:ext cx="3291840" cy="18288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2194560"/>
            <a:ext cx="3291840" cy="54864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3317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4A9EFF"/>
                </a:solidFill>
                <a:latin typeface="JetBrains Mono"/>
              </a:rPr>
              <a:t>RPC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7432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F5F5F0"/>
                </a:solidFill>
                <a:latin typeface="Oxanium"/>
              </a:rPr>
              <a:t>MagicBlock devnet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2461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0A0A0"/>
                </a:solidFill>
                <a:latin typeface="JetBrains Mono"/>
              </a:rPr>
              <a:t>Base layer (solana L1)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5204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0A0A0"/>
                </a:solidFill>
                <a:latin typeface="JetBrains Mono"/>
              </a:rPr>
              <a:t>ER (per-PDA FQDN)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7033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A0A0A0"/>
                </a:solidFill>
                <a:latin typeface="JetBrains Mono"/>
              </a:rPr>
              <a:t>via router getDelegationStatus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79" y="2194560"/>
            <a:ext cx="3657600" cy="18288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55279" y="2194560"/>
            <a:ext cx="3657600" cy="54864"/>
          </a:xfrm>
          <a:prstGeom prst="rect">
            <a:avLst/>
          </a:prstGeom>
          <a:solidFill>
            <a:srgbClr val="FFD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23317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D23F"/>
                </a:solidFill>
                <a:latin typeface="JetBrains Mono"/>
              </a:rPr>
              <a:t>ON-CHAIN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27432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F5F5F0"/>
                </a:solidFill>
                <a:latin typeface="Oxanium"/>
              </a:rPr>
              <a:t>conviction program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32461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0A0A0"/>
                </a:solidFill>
                <a:latin typeface="JetBrains Mono"/>
              </a:rPr>
              <a:t>24 instructions · 9 accounts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352044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A0A0A0"/>
                </a:solidFill>
                <a:latin typeface="JetBrains Mono"/>
              </a:rPr>
              <a:t>Delegated to ER per match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37033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A0A0A0"/>
                </a:solidFill>
                <a:latin typeface="JetBrains Mono"/>
              </a:rPr>
              <a:t>PER-sealed baskets + thresholds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297680"/>
            <a:ext cx="11064240" cy="13716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4348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B6B6B"/>
                </a:solidFill>
                <a:latin typeface="JetBrains Mono"/>
              </a:rPr>
              <a:t>SIDECAR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7548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F5F5F0"/>
                </a:solidFill>
                <a:latin typeface="Oxanium"/>
              </a:rPr>
              <a:t>Birdeye public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2578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A0A0A0"/>
                </a:solidFill>
                <a:latin typeface="Inter"/>
              </a:rPr>
              <a:t>10s price polling on every basket mint in the live round. Chart flips "Mock walk" → "Birdeye live" pill automatically.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JetBrains Mono"/>
              </a:rPr>
              <a:t>05 · THE MECHANIC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i="0">
                <a:solidFill>
                  <a:srgbClr val="F5F5F0"/>
                </a:solidFill>
                <a:latin typeface="Oxanium"/>
              </a:rPr>
              <a:t>How a round plays.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94560"/>
            <a:ext cx="45720" cy="640080"/>
          </a:xfrm>
          <a:prstGeom prst="rect">
            <a:avLst/>
          </a:prstGeom>
          <a:solidFill>
            <a:srgbClr val="00F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6712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FF85"/>
                </a:solidFill>
                <a:latin typeface="JetBrains Mono"/>
              </a:rPr>
              <a:t>1.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671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5F5F0"/>
                </a:solidFill>
                <a:latin typeface="Inter"/>
              </a:rPr>
              <a:t>Each team picks a 2-3 token basket + a bps band (e.g. -14% floor, -5% edge). Locked via lockInPreRound; delegated to ER; PER-sealed.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971800"/>
            <a:ext cx="45720" cy="640080"/>
          </a:xfrm>
          <a:prstGeom prst="rect">
            <a:avLst/>
          </a:prstGeom>
          <a:solidFill>
            <a:srgbClr val="00F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4436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FF85"/>
                </a:solidFill>
                <a:latin typeface="JetBrains Mono"/>
              </a:rPr>
              <a:t>2. 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94436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5F5F0"/>
                </a:solidFill>
                <a:latin typeface="Inter"/>
              </a:rPr>
              <a:t>Price ticks stream from Birdeye. VRF picks a villain token. Chaos events fire mid-round. The chart band visualizes the auto-fold trigger.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45720" cy="640080"/>
          </a:xfrm>
          <a:prstGeom prst="rect">
            <a:avLst/>
          </a:prstGeom>
          <a:solidFill>
            <a:srgbClr val="00F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721607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FF85"/>
                </a:solidFill>
                <a:latin typeface="JetBrains Mono"/>
              </a:rPr>
              <a:t>3. AUTO-FOLD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721607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5F5F0"/>
                </a:solidFill>
                <a:latin typeface="Inter"/>
              </a:rPr>
              <a:t>When the worst-performer drops below the band floor, the whole team folds (Team.folded = true, Team.alive = 0).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526279"/>
            <a:ext cx="45720" cy="640080"/>
          </a:xfrm>
          <a:prstGeom prst="rect">
            <a:avLst/>
          </a:prstGeom>
          <a:solidFill>
            <a:srgbClr val="00F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498847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FF85"/>
                </a:solidFill>
                <a:latin typeface="JetBrains Mono"/>
              </a:rPr>
              <a:t>4. REVEAL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498847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5F5F0"/>
                </a:solidFill>
                <a:latin typeface="Inter"/>
              </a:rPr>
              <a:t>revealRound closes PER, distributes the pot, mints 1 FTR to the winning wallet.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303519"/>
            <a:ext cx="45720" cy="640080"/>
          </a:xfrm>
          <a:prstGeom prst="rect">
            <a:avLst/>
          </a:prstGeom>
          <a:solidFill>
            <a:srgbClr val="00F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276087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FF85"/>
                </a:solidFill>
                <a:latin typeface="JetBrains Mono"/>
              </a:rPr>
              <a:t>5. GOVERNANCE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276087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5F5F0"/>
                </a:solidFill>
                <a:latin typeface="Inter"/>
              </a:rPr>
              <a:t>Winner proposes next-round parameters (duration, chaos count, basket mix).) FTR-weighted vote reshapes round 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JetBrains Mono"/>
              </a:rPr>
              <a:t>06 · SHIPPED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i="0">
                <a:solidFill>
                  <a:srgbClr val="F5F5F0"/>
                </a:solidFill>
                <a:latin typeface="Oxanium"/>
              </a:rPr>
              <a:t>What's live on devnet today.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0FF85"/>
                </a:solidFill>
                <a:latin typeface="Inter"/>
              </a:rPr>
              <a:t>· Anchor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A0A0A0"/>
                </a:solidFill>
                <a:latin typeface="Inter"/>
              </a:rPr>
              <a:t>Fh6b…JHJbH · 24 instructions · 9 accounts · all files ≤150 LOC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19456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FD23F"/>
                </a:solidFill>
                <a:latin typeface="Inter"/>
              </a:rPr>
              <a:t>· real.ts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51460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A0A0A0"/>
                </a:solidFill>
                <a:latin typeface="Inter"/>
              </a:rPr>
              <a:t>All 18 api functions wired against the on-chain program (zero notWired)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0FF85"/>
                </a:solidFill>
                <a:latin typeface="Inter"/>
              </a:rPr>
              <a:t>· 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2900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A0A0A0"/>
                </a:solidFill>
                <a:latin typeface="Inter"/>
              </a:rPr>
              <a:t>10 routes · shadcn primitives · Framer Motion FLIP animations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10896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FD23F"/>
                </a:solidFill>
                <a:latin typeface="Inter"/>
              </a:rPr>
              <a:t>· Idempotent bootstrap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42900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A0A0A0"/>
                </a:solidFill>
                <a:latin typeface="Inter"/>
              </a:rPr>
              <a:t>init_config + init_ftr_mint script; re-runs detect existing PDAs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2336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0FF85"/>
                </a:solidFill>
                <a:latin typeface="Inter"/>
              </a:rPr>
              <a:t>· MagicBlock helpers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4340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A0A0A0"/>
                </a:solidFill>
                <a:latin typeface="Inter"/>
              </a:rPr>
              <a:t>Dual-connection base/ER + router getDelegationStatus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02336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FD23F"/>
                </a:solidFill>
                <a:latin typeface="Inter"/>
              </a:rPr>
              <a:t>· Vercel deploy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434340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A0A0A0"/>
                </a:solidFill>
                <a:latin typeface="Inter"/>
              </a:rPr>
              <a:t>https://conviction-nine.vercel.app — all 7 routes return 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93776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0FF85"/>
                </a:solidFill>
                <a:latin typeface="Inter"/>
              </a:rPr>
              <a:t>· Birdeye live prices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25780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A0A0A0"/>
                </a:solidFill>
                <a:latin typeface="Inter"/>
              </a:rPr>
              <a:t>10s polling with seeded-walk fallback + Sonner toast on 401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93776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FD23F"/>
                </a:solidFill>
                <a:latin typeface="Inter"/>
              </a:rPr>
              <a:t>· GitHub repo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525780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A0A0A0"/>
                </a:solidFill>
                <a:latin typeface="Inter"/>
              </a:rPr>
              <a:t>11 commits, README + ADRs 0001-0005 + demo recording script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JetBrains Mono"/>
              </a:rPr>
              <a:t>07 · ON-CHAIN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i="0">
                <a:solidFill>
                  <a:srgbClr val="F5F5F0"/>
                </a:solidFill>
                <a:latin typeface="Oxanium"/>
              </a:rPr>
              <a:t>Devnet state, fully bootstrapped.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FF85"/>
                </a:solidFill>
                <a:latin typeface="JetBrains Mono"/>
              </a:rPr>
              <a:t>PROGRAM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2240280"/>
            <a:ext cx="8595360" cy="4572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54680" y="228600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5F5F0"/>
                </a:solidFill>
                <a:latin typeface="JetBrains Mono"/>
              </a:rPr>
              <a:t>Fh6bQUgE35Hq7nP22GZ1Youwnph2UaiEh9xTtDJuHJbH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FF85"/>
                </a:solidFill>
                <a:latin typeface="JetBrains Mono"/>
              </a:rPr>
              <a:t>GameConfig PDA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3017520"/>
            <a:ext cx="8595360" cy="4572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306324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5F5F0"/>
                </a:solidFill>
                <a:latin typeface="JetBrains Mono"/>
              </a:rPr>
              <a:t>54Lyv5mQqUm2z5hCp4nzDWSWwRZUViohvRt82kkgeti2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404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FF85"/>
                </a:solidFill>
                <a:latin typeface="JetBrains Mono"/>
              </a:rPr>
              <a:t>RoundCounter PDA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3794760"/>
            <a:ext cx="8595360" cy="4572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384048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5F5F0"/>
                </a:solidFill>
                <a:latin typeface="JetBrains Mono"/>
              </a:rPr>
              <a:t>7tizNzRh66ah4jB4HzEG7nHryNv2hvyV38fb4BPdTkwS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177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FF85"/>
                </a:solidFill>
                <a:latin typeface="JetBrains Mono"/>
              </a:rPr>
              <a:t>FTR mint (SPL)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4572000"/>
            <a:ext cx="8595360" cy="4572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461772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5F5F0"/>
                </a:solidFill>
                <a:latin typeface="JetBrains Mono"/>
              </a:rPr>
              <a:t>21Rki1gfiUYbM4bdyhma4TRWjYeS1SCXNb8ENKqsTr7V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JetBrains Mono"/>
              </a:rPr>
              <a:t>EXPLORER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0FF85"/>
                </a:solidFill>
                <a:latin typeface="JetBrains Mono"/>
              </a:rPr>
              <a:t>explorer.solana.com/address/Fh6b…JHJbH?cluster=devnet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JetBrains Mono"/>
              </a:rPr>
              <a:t>08 ·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i="0">
                <a:solidFill>
                  <a:srgbClr val="F5F5F0"/>
                </a:solidFill>
                <a:latin typeface="Oxanium"/>
              </a:rPr>
              <a:t>Phases 0 → 8, all shipped.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0FF85"/>
                </a:solidFill>
                <a:latin typeface="JetBrains Mono"/>
              </a:rPr>
              <a:t>Phase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011680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0A0A0"/>
                </a:solidFill>
                <a:latin typeface="Inter"/>
              </a:rPr>
              <a:t>ER / PER / VRF spike — architecture proven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40864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0FF85"/>
                </a:solidFill>
                <a:latin typeface="JetBrains Mono"/>
              </a:rPr>
              <a:t>Phase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340864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0A0A0"/>
                </a:solidFill>
                <a:latin typeface="Inter"/>
              </a:rPr>
              <a:t>Conviction MVP deployed to devnet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70048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0FF85"/>
                </a:solidFill>
                <a:latin typeface="JetBrains Mono"/>
              </a:rPr>
              <a:t>Phase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67004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0A0A0"/>
                </a:solidFill>
                <a:latin typeface="Inter"/>
              </a:rPr>
              <a:t>Frontend with 10 routes + mock-first data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99232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0FF85"/>
                </a:solidFill>
                <a:latin typeface="JetBrains Mono"/>
              </a:rPr>
              <a:t>Phase B+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999232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0A0A0"/>
                </a:solidFill>
                <a:latin typeface="Inter"/>
              </a:rPr>
              <a:t>Per-ix file refactor (50+ files, all ≤150 LOC)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28416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0FF85"/>
                </a:solidFill>
                <a:latin typeface="JetBrains Mono"/>
              </a:rPr>
              <a:t>Phase B+2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328416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0A0A0"/>
                </a:solidFill>
                <a:latin typeface="Inter"/>
              </a:rPr>
              <a:t>Spectator trim — 26 → 23 instructions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57600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0FF85"/>
                </a:solidFill>
                <a:latin typeface="JetBrains Mono"/>
              </a:rPr>
              <a:t>Phase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657600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0A0A0"/>
                </a:solidFill>
                <a:latin typeface="Inter"/>
              </a:rPr>
              <a:t>On-chain gap fixes: fold + leave_match + tick_price persistence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986784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0FF85"/>
                </a:solidFill>
                <a:latin typeface="JetBrains Mono"/>
              </a:rP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986784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0A0A0"/>
                </a:solidFill>
                <a:latin typeface="Inter"/>
              </a:rPr>
              <a:t>Basket-band fix (StopLossRange model)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011680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0FF85"/>
                </a:solidFill>
                <a:latin typeface="JetBrains Mono"/>
              </a:rPr>
              <a:t>Phase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011680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0A0A0"/>
                </a:solidFill>
                <a:latin typeface="Inter"/>
              </a:rPr>
              <a:t>real.ts wire-up against devnet — all 18 functions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340864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0FF85"/>
                </a:solidFill>
                <a:latin typeface="JetBrains Mono"/>
              </a:rPr>
              <a:t>Phase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340864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0A0A0"/>
                </a:solidFill>
                <a:latin typeface="Inter"/>
              </a:rPr>
              <a:t>Birdeye live prices wired into price-chart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670048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0FF85"/>
                </a:solidFill>
                <a:latin typeface="JetBrains Mono"/>
              </a:rPr>
              <a:t>Phase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267004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0A0A0"/>
                </a:solidFill>
                <a:latin typeface="Inter"/>
              </a:rPr>
              <a:t>On-chain bootstrap (GameConfig + FTR mint)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999232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0FF85"/>
                </a:solidFill>
                <a:latin typeface="JetBrains Mono"/>
              </a:rPr>
              <a:t>Phase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999232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0A0A0"/>
                </a:solidFill>
                <a:latin typeface="Inter"/>
              </a:rPr>
              <a:t>Vercel deploy artifacts (live at conviction-nine.vercel.app)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328416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0FF85"/>
                </a:solidFill>
                <a:latin typeface="JetBrains Mono"/>
              </a:rPr>
              <a:t>Phase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328416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0A0A0"/>
                </a:solidFill>
                <a:latin typeface="Inter"/>
              </a:rPr>
              <a:t>Spectator mock-data fallback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657600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0FF85"/>
                </a:solidFill>
                <a:latin typeface="JetBrains Mono"/>
              </a:rPr>
              <a:t>Phase 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3657600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0A0A0"/>
                </a:solidFill>
                <a:latin typeface="Inter"/>
              </a:rPr>
              <a:t>Frontend redesign (mission control, reveal, landing)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D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D23F"/>
                </a:solidFill>
                <a:latin typeface="JetBrains Mono"/>
              </a:rPr>
              <a:t>09 · UPCOMING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i="0">
                <a:solidFill>
                  <a:srgbClr val="F5F5F0"/>
                </a:solidFill>
                <a:latin typeface="Oxanium"/>
              </a:rPr>
              <a:t>Spectator PER-sealed bids.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1">
                <a:solidFill>
                  <a:srgbClr val="A0A0A0"/>
                </a:solidFill>
                <a:latin typeface="Inter"/>
              </a:rPr>
              <a:t>A prediction market that runs alongside the round.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45720" cy="548640"/>
          </a:xfrm>
          <a:prstGeom prst="rect">
            <a:avLst/>
          </a:prstGeom>
          <a:solidFill>
            <a:srgbClr val="FFD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71576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FD23F"/>
                </a:solidFill>
                <a:latin typeface="JetBrains Mono"/>
              </a:rPr>
              <a:t>1. 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697480"/>
            <a:ext cx="9418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5F5F0"/>
                </a:solidFill>
                <a:latin typeface="Inter"/>
              </a:rPr>
              <a:t>Spectators commit a hashed prediction + amount to /spectate/[id]. The bid is sealed behind a PER member-set so the rival can't see the prediction pool.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429000"/>
            <a:ext cx="45720" cy="548640"/>
          </a:xfrm>
          <a:prstGeom prst="rect">
            <a:avLst/>
          </a:prstGeom>
          <a:solidFill>
            <a:srgbClr val="FFD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40156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FD23F"/>
                </a:solidFill>
                <a:latin typeface="JetBrains Mono"/>
              </a:rPr>
              <a:t>2. WAIT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383280"/>
            <a:ext cx="9418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5F5F0"/>
                </a:solidFill>
                <a:latin typeface="Inter"/>
              </a:rPr>
              <a:t>Round plays out. Bids stay sealed.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114800"/>
            <a:ext cx="45720" cy="548640"/>
          </a:xfrm>
          <a:prstGeom prst="rect">
            <a:avLst/>
          </a:prstGeom>
          <a:solidFill>
            <a:srgbClr val="FFD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08736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FD23F"/>
                </a:solidFill>
                <a:latin typeface="JetBrains Mono"/>
              </a:rPr>
              <a:t>3. REVEAL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069080"/>
            <a:ext cx="9418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5F5F0"/>
                </a:solidFill>
                <a:latin typeface="Inter"/>
              </a:rPr>
              <a:t>At reveal_round, PER opens. Preimages are checked against on-chain outcomes (first-fold, last-holding, chaos-count, perfect-round).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800600"/>
            <a:ext cx="45720" cy="548640"/>
          </a:xfrm>
          <a:prstGeom prst="rect">
            <a:avLst/>
          </a:prstGeom>
          <a:solidFill>
            <a:srgbClr val="FFD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77316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FD23F"/>
                </a:solidFill>
                <a:latin typeface="JetBrains Mono"/>
              </a:rPr>
              <a:t>4. SETTLE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754880"/>
            <a:ext cx="9418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5F5F0"/>
                </a:solidFill>
                <a:latin typeface="Inter"/>
              </a:rPr>
              <a:t>Correct bids win the pool (minus a small house cut). FTR minted to top predictors earns the "Whale Watcher" badge.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760720"/>
            <a:ext cx="11064240" cy="86868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85216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D23F"/>
                </a:solidFill>
                <a:latin typeface="JetBrains Mono"/>
              </a:rPr>
              <a:t>WHY IT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172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F5F5F0"/>
                </a:solidFill>
                <a:latin typeface="Inter"/>
              </a:rPr>
              <a:t>Spectator bids are the second economy. They make the watch-as-good-as-play thesis real.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F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0FF85"/>
                </a:solidFill>
                <a:latin typeface="JetBrains Mono"/>
              </a:rPr>
              <a:t>10 · UPCOMING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i="0">
                <a:solidFill>
                  <a:srgbClr val="F5F5F0"/>
                </a:solidFill>
                <a:latin typeface="Oxanium"/>
              </a:rPr>
              <a:t>Token universe governance.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1">
                <a:solidFill>
                  <a:srgbClr val="A0A0A0"/>
                </a:solidFill>
                <a:latin typeface="Inter"/>
              </a:rPr>
              <a:t>FTR holders curate which SPL mints are eligible to be picked.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45720" cy="548640"/>
          </a:xfrm>
          <a:prstGeom prst="rect">
            <a:avLst/>
          </a:prstGeom>
          <a:solidFill>
            <a:srgbClr val="00F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71576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0FF85"/>
                </a:solidFill>
                <a:latin typeface="JetBrains Mono"/>
              </a:rPr>
              <a:t>1. PROPOSE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697480"/>
            <a:ext cx="9418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5F5F0"/>
                </a:solidFill>
                <a:latin typeface="Inter"/>
              </a:rPr>
              <a:t>Any FTR holder calls proposeAddToken with a SPL mint address + a short rationale. The proposal hits the chain immediately.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429000"/>
            <a:ext cx="45720" cy="548640"/>
          </a:xfrm>
          <a:prstGeom prst="rect">
            <a:avLst/>
          </a:prstGeom>
          <a:solidFill>
            <a:srgbClr val="00F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40156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0FF85"/>
                </a:solidFill>
                <a:latin typeface="JetBrains Mono"/>
              </a:rPr>
              <a:t>2. VOTE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383280"/>
            <a:ext cx="9418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5F5F0"/>
                </a:solidFill>
                <a:latin typeface="Inter"/>
              </a:rPr>
              <a:t>FTR-weighted vote over a 7-day window. voteOnToken with support_yes / support_no. Quorum = 5% of circulating FTR.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114800"/>
            <a:ext cx="45720" cy="548640"/>
          </a:xfrm>
          <a:prstGeom prst="rect">
            <a:avLst/>
          </a:prstGeom>
          <a:solidFill>
            <a:srgbClr val="00F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08736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0FF85"/>
                </a:solidFill>
                <a:latin typeface="JetBrains Mono"/>
              </a:rPr>
              <a:t>3. ADD OR REJECT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069080"/>
            <a:ext cx="9418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5F5F0"/>
                </a:solidFill>
                <a:latin typeface="Inter"/>
              </a:rPr>
              <a:t>tallyTokenProposal either appends the mint to TOKEN_UNIVERSE or rejects. Both branches emit a ProposalClosed event.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800600"/>
            <a:ext cx="45720" cy="548640"/>
          </a:xfrm>
          <a:prstGeom prst="rect">
            <a:avLst/>
          </a:prstGeom>
          <a:solidFill>
            <a:srgbClr val="00F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77316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0FF85"/>
                </a:solidFill>
                <a:latin typeface="JetBrains Mono"/>
              </a:rPr>
              <a:t>4. CURATED UNIVERSE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754880"/>
            <a:ext cx="9418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5F5F0"/>
                </a:solidFill>
                <a:latin typeface="Inter"/>
              </a:rPr>
              <a:t>Newly added mints are eligible for villains, basket slots, and chaos events from the next round onwards.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760720"/>
            <a:ext cx="11064240" cy="86868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85216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0FF85"/>
                </a:solidFill>
                <a:latin typeface="JetBrains Mono"/>
              </a:rPr>
              <a:t>WHY IT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172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F5F5F0"/>
                </a:solidFill>
                <a:latin typeface="Inter"/>
              </a:rPr>
              <a:t>The 25-token universe isn't a one-time decision — it's a continuous, token-holder-curated feed.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4A9EFF"/>
                </a:solidFill>
                <a:latin typeface="JetBrains Mono"/>
              </a:rPr>
              <a:t>11 · UPCOMING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i="0">
                <a:solidFill>
                  <a:srgbClr val="F5F5F0"/>
                </a:solidFill>
                <a:latin typeface="Oxanium"/>
              </a:rPr>
              <a:t>FTR immunity pick.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1">
                <a:solidFill>
                  <a:srgbClr val="A0A0A0"/>
                </a:solidFill>
                <a:latin typeface="Inter"/>
              </a:rPr>
              <a:t>FTR holders exclude one mint from VRF's reach for the round they vote 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5486400" cy="32004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697480"/>
            <a:ext cx="5486400" cy="54864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4A9EFF"/>
                </a:solidFill>
                <a:latin typeface="JetBrains Mono"/>
              </a:rPr>
              <a:t>VRF PICK (default)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5F5F0"/>
                </a:solidFill>
                <a:latin typeface="Oxanium"/>
              </a:rPr>
              <a:t>Uniform random over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49039"/>
            <a:ext cx="5029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A0A0A0"/>
                </a:solidFill>
                <a:latin typeface="Inter"/>
              </a:rPr>
              <a:t>Each round, VRF rolls a uniform random index over TOKEN_UNIVERSE and the chosen mint becomes the villain.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A0A0A0"/>
                </a:solidFill>
                <a:latin typeface="Inter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A0A0A0"/>
                </a:solidFill>
                <a:latin typeface="Inter"/>
              </a:rPr>
              <a:t>This is fair and provable, but means any held token can be the villain — including one you're long 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697480"/>
            <a:ext cx="5486400" cy="32004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2697480"/>
            <a:ext cx="5486400" cy="54864"/>
          </a:xfrm>
          <a:prstGeom prst="rect">
            <a:avLst/>
          </a:prstGeom>
          <a:solidFill>
            <a:srgbClr val="00F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8346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0FF85"/>
                </a:solidFill>
                <a:latin typeface="JetBrains Mono"/>
              </a:rPr>
              <a:t>IMMUNITY PICK (FTR-gated)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2461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5F5F0"/>
                </a:solidFill>
                <a:latin typeface="Oxanium"/>
              </a:rPr>
              <a:t>One mint excluded per round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749039"/>
            <a:ext cx="5029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A0A0A0"/>
                </a:solidFill>
                <a:latin typeface="Inter"/>
              </a:rPr>
              <a:t>Before requestVillainVrf, FTR holders vote on a single mint to exclude. The VRF roll skips that index.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A0A0A0"/>
                </a:solidFill>
                <a:latin typeface="Inter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A0A0A0"/>
                </a:solidFill>
                <a:latin typeface="Inter"/>
              </a:rPr>
              <a:t>FTR concentration creates strategic immunity — long-term holders can protect their position across many rounds.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989320"/>
            <a:ext cx="11064240" cy="59436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6080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4A9EFF"/>
                </a:solidFill>
                <a:latin typeface="JetBrains Mono"/>
              </a:rPr>
              <a:t>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3276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5F5F0"/>
                </a:solidFill>
                <a:latin typeface="JetBrains Mono"/>
              </a:rPr>
              <a:t>FTR vote → tallyImmunityPick → excludeIndex → VRF rolls over the filtered universe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JetBrains Mono"/>
              </a:rPr>
              <a:t>12 ·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5F5F0"/>
                </a:solidFill>
                <a:latin typeface="Oxanium"/>
              </a:rPr>
              <a:t>The game is the startup pitch.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1">
                <a:solidFill>
                  <a:srgbClr val="A0A0A0"/>
                </a:solidFill>
                <a:latin typeface="Inter"/>
              </a:rPr>
              <a:t>Every round of Conviction is a 15-minute governance experiment. The winner shapes the next round.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474720"/>
            <a:ext cx="45720" cy="457200"/>
          </a:xfrm>
          <a:prstGeom prst="rect">
            <a:avLst/>
          </a:prstGeom>
          <a:solidFill>
            <a:srgbClr val="00F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4290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5F5F0"/>
                </a:solidFill>
                <a:latin typeface="Inter"/>
              </a:rPr>
              <a:t>FTR mints create an economy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49039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A0A0A0"/>
                </a:solidFill>
                <a:latin typeface="Inter"/>
              </a:rPr>
              <a:t>Players who win rounds accumulate governance weight. Skin in the game.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160520"/>
            <a:ext cx="45720" cy="457200"/>
          </a:xfrm>
          <a:prstGeom prst="rect">
            <a:avLst/>
          </a:prstGeom>
          <a:solidFill>
            <a:srgbClr val="00F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1148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5F5F0"/>
                </a:solidFill>
                <a:latin typeface="Inter"/>
              </a:rPr>
              <a:t>Baskets diversify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4348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A0A0A0"/>
                </a:solidFill>
                <a:latin typeface="Inter"/>
              </a:rPr>
              <a:t>A winning meta emerges as FTR holders vote on which tokens belong in TOKEN_UNIVERSE.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846320"/>
            <a:ext cx="45720" cy="457200"/>
          </a:xfrm>
          <a:prstGeom prst="rect">
            <a:avLst/>
          </a:prstGeom>
          <a:solidFill>
            <a:srgbClr val="00F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8006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5F5F0"/>
                </a:solidFill>
                <a:latin typeface="Inter"/>
              </a:rPr>
              <a:t>Immunity creates moats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20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A0A0A0"/>
                </a:solidFill>
                <a:latin typeface="Inter"/>
              </a:rPr>
              <a:t>Long-term FTR holders can protect their long positions — same mechanic as token-curated registries.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532120"/>
            <a:ext cx="45720" cy="457200"/>
          </a:xfrm>
          <a:prstGeom prst="rect">
            <a:avLst/>
          </a:prstGeom>
          <a:solidFill>
            <a:srgbClr val="00F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4864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5F5F0"/>
                </a:solidFill>
                <a:latin typeface="Inter"/>
              </a:rPr>
              <a:t>Spectator bids add liquidity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806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A0A0A0"/>
                </a:solidFill>
                <a:latin typeface="Inter"/>
              </a:rPr>
              <a:t>The prediction market becomes the second economy. Whale Watcher badge as reputation.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F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B"/>
                </a:solidFill>
                <a:latin typeface="JetBrains Mono"/>
              </a:rPr>
              <a:t>THANKS · MAGICBLOCK BLITZ V8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1" i="0">
                <a:solidFill>
                  <a:srgbClr val="F5F5F0"/>
                </a:solidFill>
                <a:latin typeface="Oxanium"/>
              </a:rPr>
              <a:t>Conviction.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1">
                <a:solidFill>
                  <a:srgbClr val="A0A0A0"/>
                </a:solidFill>
                <a:latin typeface="Inter"/>
              </a:rPr>
              <a:t>Risk duel on Solana · ER · PER · VRF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023360"/>
            <a:ext cx="2779776" cy="457200"/>
          </a:xfrm>
          <a:prstGeom prst="roundRect">
            <a:avLst/>
          </a:prstGeom>
          <a:solidFill>
            <a:srgbClr val="1F1F1F"/>
          </a:solidFill>
          <a:ln w="12700">
            <a:solidFill>
              <a:srgbClr val="00FF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73152" wrap="none"/>
          <a:lstStyle/>
          <a:p>
            <a:pPr algn="ctr"/>
            <a:r>
              <a:rPr sz="1000" b="1">
                <a:solidFill>
                  <a:srgbClr val="00FF85"/>
                </a:solidFill>
                <a:latin typeface="JetBrains Mono"/>
              </a:rPr>
              <a:t>LIVE  conviction-nine.vercel.app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526280"/>
            <a:ext cx="3246120" cy="457200"/>
          </a:xfrm>
          <a:prstGeom prst="roundRect">
            <a:avLst/>
          </a:prstGeom>
          <a:solidFill>
            <a:srgbClr val="1F1F1F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73152" wrap="none"/>
          <a:lstStyle/>
          <a:p>
            <a:pPr algn="ctr"/>
            <a:r>
              <a:rPr sz="1000" b="1">
                <a:solidFill>
                  <a:srgbClr val="4A9EFF"/>
                </a:solidFill>
                <a:latin typeface="JetBrains Mono"/>
              </a:rPr>
              <a:t>REPO  github.com/Rujul-1105/conviction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029200"/>
            <a:ext cx="2546604" cy="457200"/>
          </a:xfrm>
          <a:prstGeom prst="roundRect">
            <a:avLst/>
          </a:prstGeom>
          <a:solidFill>
            <a:srgbClr val="1F1F1F"/>
          </a:solidFill>
          <a:ln w="12700">
            <a:solidFill>
              <a:srgbClr val="FFD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73152" wrap="none"/>
          <a:lstStyle/>
          <a:p>
            <a:pPr algn="ctr"/>
            <a:r>
              <a:rPr sz="1000" b="1">
                <a:solidFill>
                  <a:srgbClr val="FFD23F"/>
                </a:solidFill>
                <a:latin typeface="JetBrains Mono"/>
              </a:rPr>
              <a:t>EXPLORER  Fh6b…JHJbH (devnet)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5F5F0"/>
                </a:solidFill>
                <a:latin typeface="Inter"/>
              </a:rPr>
              <a:t>Rujul · @rujulmatta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